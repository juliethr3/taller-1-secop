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identificar, desde la firma, qué características del contrato se asocian con ampliaciones de plazo y con contratos cerrados sin pagos registrados, para priorizar la supervisión.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hallazgo más fuerte y estable. La tendencia es monótona y persiste al controlar por modalidad, así que no es solo que la licitación se use para contratos grandes.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modalidades competitivas y de mayor cuantía concentran las ampliaciones. Contratación directa no difiere de la referencia: es un resultado no significativo que reportamos. En funcionamiento, la licitación llega a 31 %.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un riesgo distinto del plazo. Puede ser presupuesto sin ejecutar o pagos registrados fuera de SECOP II; por eso lo tratamos como alerta para verificar al cierre, no como incumplimiento.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filtros usan información disponible al firmar: valor, modalidad, destino y sector. No se recomienda usar contratación directa para el riesgo de plazo ni el valor para el riesgo de pagos, porque no mostraron diferencias relevantes.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los criterios son un punto de partida para priorizar. Validarlos con una muestra auditada permitiría convertirlos en un puntaje de riesgo.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0A8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OFICINA DE CONTROL INTERNO · INFORME EJECUTIVO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289903"/>
            <a:ext cx="10883392" cy="1427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b="1" dirty="0">
                <a:solidFill>
                  <a:srgbClr val="F4F1E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¿Qué contratos de bienes supervisar de cerca?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945930"/>
            <a:ext cx="10883392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1E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Criterios de focalización basados en 119.718 contratos de compraventa y suministro firmados entre 2021 y 2024 en SECOP II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814087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1E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MINE-4101 Ciencia de Datos Aplicada · Taller 1 · Universidad de los Andes · 2026-20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04A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HALLAZGO 1 · VALOR DEL CONTRATO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514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mayor valor, más ampliaciones de plazo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66998" y="4677503"/>
            <a:ext cx="609137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2,8 %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01700" y="5038130"/>
            <a:ext cx="889000" cy="514350"/>
          </a:xfrm>
          <a:prstGeom prst="rect">
            <a:avLst/>
          </a:prstGeom>
          <a:solidFill>
            <a:srgbClr val="E8B48A"/>
          </a:solidFill>
          <a:ln/>
        </p:spPr>
      </p:sp>
      <p:sp>
        <p:nvSpPr>
          <p:cNvPr id="6" name="Text 4"/>
          <p:cNvSpPr/>
          <p:nvPr/>
        </p:nvSpPr>
        <p:spPr>
          <a:xfrm>
            <a:off x="891844" y="5628680"/>
            <a:ext cx="908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Hasta 9,8 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84359" y="4213953"/>
            <a:ext cx="61601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5,3 %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22500" y="4574580"/>
            <a:ext cx="889000" cy="977900"/>
          </a:xfrm>
          <a:prstGeom prst="rect">
            <a:avLst/>
          </a:prstGeom>
          <a:solidFill>
            <a:srgbClr val="E8B48A"/>
          </a:solidFill>
          <a:ln/>
        </p:spPr>
      </p:sp>
      <p:sp>
        <p:nvSpPr>
          <p:cNvPr id="9" name="Text 7"/>
          <p:cNvSpPr/>
          <p:nvPr/>
        </p:nvSpPr>
        <p:spPr>
          <a:xfrm>
            <a:off x="2304653" y="5628680"/>
            <a:ext cx="7246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9,8–24 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06019" y="3940903"/>
            <a:ext cx="61429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6,8 %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43300" y="4301530"/>
            <a:ext cx="889000" cy="1250950"/>
          </a:xfrm>
          <a:prstGeom prst="rect">
            <a:avLst/>
          </a:prstGeom>
          <a:solidFill>
            <a:srgbClr val="E8B48A"/>
          </a:solidFill>
          <a:ln/>
        </p:spPr>
      </p:sp>
      <p:sp>
        <p:nvSpPr>
          <p:cNvPr id="12" name="Text 10"/>
          <p:cNvSpPr/>
          <p:nvPr/>
        </p:nvSpPr>
        <p:spPr>
          <a:xfrm>
            <a:off x="3645297" y="5628680"/>
            <a:ext cx="684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24–49 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6554" y="3439253"/>
            <a:ext cx="61482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9,5 %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64100" y="3799880"/>
            <a:ext cx="889000" cy="1752600"/>
          </a:xfrm>
          <a:prstGeom prst="rect">
            <a:avLst/>
          </a:prstGeom>
          <a:solidFill>
            <a:srgbClr val="E8B48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9639" y="5628680"/>
            <a:ext cx="7379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49–140 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4293" y="2391503"/>
            <a:ext cx="700947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04A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15,2 %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84900" y="2752130"/>
            <a:ext cx="889000" cy="2800350"/>
          </a:xfrm>
          <a:prstGeom prst="rect">
            <a:avLst/>
          </a:prstGeom>
          <a:solidFill>
            <a:srgbClr val="D95F02"/>
          </a:solidFill>
          <a:ln/>
        </p:spPr>
      </p:sp>
      <p:sp>
        <p:nvSpPr>
          <p:cNvPr id="18" name="Text 16"/>
          <p:cNvSpPr/>
          <p:nvPr/>
        </p:nvSpPr>
        <p:spPr>
          <a:xfrm>
            <a:off x="6121003" y="5628680"/>
            <a:ext cx="10167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Más de 140 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3154826"/>
            <a:ext cx="3715004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B04A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5,5×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7772400" y="4069226"/>
            <a:ext cx="3715004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más adiciones en el quintil más alto que en el más bajo.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0" y="4790480"/>
            <a:ext cx="3715004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El gradiente se repite dentro de cada modalidad: en mínima cuantía va de 2,9 % a 18,9 %. El valor es un criterio por sí mismo.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% de contratos con días adicionados, por quintil de valor (millones de pesos). Firmados 2021–2024, n = 119.717. Cochran–Armitage z = 52,5; p &lt; 0,001.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04A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HALLAZGO 2 · MODALIDAD Y PLAZO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515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Licitación pública amplía plazos 4 veces más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21360" y="1929078"/>
            <a:ext cx="313944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Licitación pública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013200" y="1917635"/>
            <a:ext cx="5715000" cy="254000"/>
          </a:xfrm>
          <a:prstGeom prst="rect">
            <a:avLst/>
          </a:prstGeom>
          <a:solidFill>
            <a:srgbClr val="D95F02"/>
          </a:solidFill>
          <a:ln/>
        </p:spPr>
      </p:sp>
      <p:sp>
        <p:nvSpPr>
          <p:cNvPr id="6" name="Text 4"/>
          <p:cNvSpPr/>
          <p:nvPr/>
        </p:nvSpPr>
        <p:spPr>
          <a:xfrm>
            <a:off x="9880600" y="1929078"/>
            <a:ext cx="616545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25,5 %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21360" y="2271978"/>
            <a:ext cx="313944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Régimen especial con ofertas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13200" y="2260535"/>
            <a:ext cx="3479800" cy="254000"/>
          </a:xfrm>
          <a:prstGeom prst="rect">
            <a:avLst/>
          </a:prstGeom>
          <a:solidFill>
            <a:srgbClr val="E8B48A"/>
          </a:solidFill>
          <a:ln/>
        </p:spPr>
      </p:sp>
      <p:sp>
        <p:nvSpPr>
          <p:cNvPr id="9" name="Text 7"/>
          <p:cNvSpPr/>
          <p:nvPr/>
        </p:nvSpPr>
        <p:spPr>
          <a:xfrm>
            <a:off x="7645400" y="2271978"/>
            <a:ext cx="58234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15,5 %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1360" y="2614878"/>
            <a:ext cx="313944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Selección abreviada menor cuantía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13200" y="2603435"/>
            <a:ext cx="2844800" cy="254000"/>
          </a:xfrm>
          <a:prstGeom prst="rect">
            <a:avLst/>
          </a:prstGeom>
          <a:solidFill>
            <a:srgbClr val="E8B48A"/>
          </a:solidFill>
          <a:ln/>
        </p:spPr>
      </p:sp>
      <p:sp>
        <p:nvSpPr>
          <p:cNvPr id="12" name="Text 10"/>
          <p:cNvSpPr/>
          <p:nvPr/>
        </p:nvSpPr>
        <p:spPr>
          <a:xfrm>
            <a:off x="7010400" y="2614878"/>
            <a:ext cx="55417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12,7 %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1360" y="2957778"/>
            <a:ext cx="313944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Subasta inversa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13200" y="2946335"/>
            <a:ext cx="2800350" cy="254000"/>
          </a:xfrm>
          <a:prstGeom prst="rect">
            <a:avLst/>
          </a:prstGeom>
          <a:solidFill>
            <a:srgbClr val="E8B48A"/>
          </a:solidFill>
          <a:ln/>
        </p:spPr>
      </p:sp>
      <p:sp>
        <p:nvSpPr>
          <p:cNvPr id="15" name="Text 13"/>
          <p:cNvSpPr/>
          <p:nvPr/>
        </p:nvSpPr>
        <p:spPr>
          <a:xfrm>
            <a:off x="6965950" y="2957778"/>
            <a:ext cx="5757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12,5 %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1360" y="3300678"/>
            <a:ext cx="313944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Contratación directa con ofertas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13200" y="3289235"/>
            <a:ext cx="1682750" cy="254000"/>
          </a:xfrm>
          <a:prstGeom prst="rect">
            <a:avLst/>
          </a:prstGeom>
          <a:solidFill>
            <a:srgbClr val="D6D2C8"/>
          </a:solidFill>
          <a:ln/>
        </p:spPr>
      </p:sp>
      <p:sp>
        <p:nvSpPr>
          <p:cNvPr id="18" name="Text 16"/>
          <p:cNvSpPr/>
          <p:nvPr/>
        </p:nvSpPr>
        <p:spPr>
          <a:xfrm>
            <a:off x="5848350" y="3300678"/>
            <a:ext cx="48484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7,5 %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1360" y="3643578"/>
            <a:ext cx="313944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Mínima cuantía (referencia)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013200" y="3632135"/>
            <a:ext cx="1365250" cy="254000"/>
          </a:xfrm>
          <a:prstGeom prst="rect">
            <a:avLst/>
          </a:prstGeom>
          <a:solidFill>
            <a:srgbClr val="8A94A6"/>
          </a:solidFill>
          <a:ln/>
        </p:spPr>
      </p:sp>
      <p:sp>
        <p:nvSpPr>
          <p:cNvPr id="21" name="Text 19"/>
          <p:cNvSpPr/>
          <p:nvPr/>
        </p:nvSpPr>
        <p:spPr>
          <a:xfrm>
            <a:off x="5530850" y="3643578"/>
            <a:ext cx="46851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6,1 %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1360" y="3986478"/>
            <a:ext cx="313944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Contratación directa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013200" y="3975035"/>
            <a:ext cx="1320800" cy="254000"/>
          </a:xfrm>
          <a:prstGeom prst="rect">
            <a:avLst/>
          </a:prstGeom>
          <a:solidFill>
            <a:srgbClr val="D6D2C8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3986478"/>
            <a:ext cx="136716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5,9 % </a:t>
            </a:r>
            <a:r>
              <a:rPr lang="en-US" sz="1300" b="1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· no difiere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1360" y="4329378"/>
            <a:ext cx="313944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Régimen especial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013200" y="4317935"/>
            <a:ext cx="1073150" cy="254000"/>
          </a:xfrm>
          <a:prstGeom prst="rect">
            <a:avLst/>
          </a:prstGeom>
          <a:solidFill>
            <a:srgbClr val="D6D2C8"/>
          </a:solidFill>
          <a:ln/>
        </p:spPr>
      </p:sp>
      <p:sp>
        <p:nvSpPr>
          <p:cNvPr id="27" name="Text 25"/>
          <p:cNvSpPr/>
          <p:nvPr/>
        </p:nvSpPr>
        <p:spPr>
          <a:xfrm>
            <a:off x="5238750" y="4329378"/>
            <a:ext cx="50793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4,8 %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% con adiciones de plazo, firmados 2021–2024. Cada modalidad frente a mínima cuantía, χ² con ajuste de Holm; contratación directa p = 0,70.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5C9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HALLAZGO 3 · CONTRATOS CERRADOS SIN PAGOS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515"/>
            <a:ext cx="10883392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Régimen especial y salud cierran sin pagos registrados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06120" y="2396398"/>
            <a:ext cx="366268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Régimen especial con ofertas, funcionamiento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21200" y="2384955"/>
            <a:ext cx="5588000" cy="254000"/>
          </a:xfrm>
          <a:prstGeom prst="rect">
            <a:avLst/>
          </a:prstGeom>
          <a:solidFill>
            <a:srgbClr val="1F5C99"/>
          </a:solidFill>
          <a:ln/>
        </p:spPr>
      </p:sp>
      <p:sp>
        <p:nvSpPr>
          <p:cNvPr id="6" name="Text 4"/>
          <p:cNvSpPr/>
          <p:nvPr/>
        </p:nvSpPr>
        <p:spPr>
          <a:xfrm>
            <a:off x="10261600" y="2396398"/>
            <a:ext cx="57798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84,1 %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6120" y="2739298"/>
            <a:ext cx="366268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Sector salud y protección social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1200" y="2727855"/>
            <a:ext cx="4641850" cy="254000"/>
          </a:xfrm>
          <a:prstGeom prst="rect">
            <a:avLst/>
          </a:prstGeom>
          <a:solidFill>
            <a:srgbClr val="1F5C99"/>
          </a:solidFill>
          <a:ln/>
        </p:spPr>
      </p:sp>
      <p:sp>
        <p:nvSpPr>
          <p:cNvPr id="9" name="Text 7"/>
          <p:cNvSpPr/>
          <p:nvPr/>
        </p:nvSpPr>
        <p:spPr>
          <a:xfrm>
            <a:off x="9315450" y="2739298"/>
            <a:ext cx="61495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69,9 %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6120" y="3082198"/>
            <a:ext cx="366268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Contratación directa, funcionamiento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1200" y="3070755"/>
            <a:ext cx="4559300" cy="254000"/>
          </a:xfrm>
          <a:prstGeom prst="rect">
            <a:avLst/>
          </a:prstGeom>
          <a:solidFill>
            <a:srgbClr val="1F5C99"/>
          </a:solidFill>
          <a:ln/>
        </p:spPr>
      </p:sp>
      <p:sp>
        <p:nvSpPr>
          <p:cNvPr id="12" name="Text 10"/>
          <p:cNvSpPr/>
          <p:nvPr/>
        </p:nvSpPr>
        <p:spPr>
          <a:xfrm>
            <a:off x="9232900" y="3082198"/>
            <a:ext cx="61720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68,6 %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6120" y="3425098"/>
            <a:ext cx="366268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Régimen especial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21200" y="3413655"/>
            <a:ext cx="3835400" cy="254000"/>
          </a:xfrm>
          <a:prstGeom prst="rect">
            <a:avLst/>
          </a:prstGeom>
          <a:solidFill>
            <a:srgbClr val="9DB8D6"/>
          </a:solidFill>
          <a:ln/>
        </p:spPr>
      </p:sp>
      <p:sp>
        <p:nvSpPr>
          <p:cNvPr id="15" name="Text 13"/>
          <p:cNvSpPr/>
          <p:nvPr/>
        </p:nvSpPr>
        <p:spPr>
          <a:xfrm>
            <a:off x="8509000" y="3425098"/>
            <a:ext cx="59564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57,8 %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6120" y="3767998"/>
            <a:ext cx="366268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Sector transporte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1200" y="3756555"/>
            <a:ext cx="3778250" cy="254000"/>
          </a:xfrm>
          <a:prstGeom prst="rect">
            <a:avLst/>
          </a:prstGeom>
          <a:solidFill>
            <a:srgbClr val="9DB8D6"/>
          </a:solidFill>
          <a:ln/>
        </p:spPr>
      </p:sp>
      <p:sp>
        <p:nvSpPr>
          <p:cNvPr id="18" name="Text 16"/>
          <p:cNvSpPr/>
          <p:nvPr/>
        </p:nvSpPr>
        <p:spPr>
          <a:xfrm>
            <a:off x="8451850" y="3767998"/>
            <a:ext cx="61813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56,9 %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6120" y="4110898"/>
            <a:ext cx="366268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Todo funcionamiento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21200" y="4099455"/>
            <a:ext cx="3124200" cy="254000"/>
          </a:xfrm>
          <a:prstGeom prst="rect">
            <a:avLst/>
          </a:prstGeom>
          <a:solidFill>
            <a:srgbClr val="9DB8D6"/>
          </a:solidFill>
          <a:ln/>
        </p:spPr>
      </p:sp>
      <p:sp>
        <p:nvSpPr>
          <p:cNvPr id="21" name="Text 19"/>
          <p:cNvSpPr/>
          <p:nvPr/>
        </p:nvSpPr>
        <p:spPr>
          <a:xfrm>
            <a:off x="7797800" y="4110898"/>
            <a:ext cx="58810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47,0 %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6120" y="4453798"/>
            <a:ext cx="366268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Mínima cuantía (referencia)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21200" y="4442355"/>
            <a:ext cx="2438400" cy="254000"/>
          </a:xfrm>
          <a:prstGeom prst="rect">
            <a:avLst/>
          </a:prstGeom>
          <a:solidFill>
            <a:srgbClr val="8A94A6"/>
          </a:solidFill>
          <a:ln/>
        </p:spPr>
      </p:sp>
      <p:sp>
        <p:nvSpPr>
          <p:cNvPr id="24" name="Text 22"/>
          <p:cNvSpPr/>
          <p:nvPr/>
        </p:nvSpPr>
        <p:spPr>
          <a:xfrm>
            <a:off x="7112000" y="4453798"/>
            <a:ext cx="59696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36,7 %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6120" y="4796698"/>
            <a:ext cx="366268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Todo inversión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21200" y="4785255"/>
            <a:ext cx="2095500" cy="254000"/>
          </a:xfrm>
          <a:prstGeom prst="rect">
            <a:avLst/>
          </a:prstGeom>
          <a:solidFill>
            <a:srgbClr val="C9D3DF"/>
          </a:solidFill>
          <a:ln/>
        </p:spPr>
      </p:sp>
      <p:sp>
        <p:nvSpPr>
          <p:cNvPr id="27" name="Text 25"/>
          <p:cNvSpPr/>
          <p:nvPr/>
        </p:nvSpPr>
        <p:spPr>
          <a:xfrm>
            <a:off x="6769100" y="4796698"/>
            <a:ext cx="58069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31,5 %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6024959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% de contratos terminados o cerrados con valor pagado igual a cero, 2021–2024 (n = 66.237). El sector tiene el mayor efecto (η² = 0,088); el valor no influye (ρ = −0,07).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F0A8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RECOMENDACIÓN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515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Tres filtros aplicables desde la firma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68435"/>
            <a:ext cx="3386667" cy="3873566"/>
          </a:xfrm>
          <a:prstGeom prst="roundRect">
            <a:avLst>
              <a:gd name="adj" fmla="val 3000"/>
            </a:avLst>
          </a:prstGeom>
          <a:solidFill>
            <a:srgbClr val="1E2E52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68435"/>
            <a:ext cx="3386667" cy="3873566"/>
          </a:xfrm>
          <a:custGeom>
            <a:avLst/>
            <a:gdLst/>
            <a:ahLst/>
            <a:cxnLst/>
            <a:rect l="l" t="t" r="r" b="b"/>
            <a:pathLst>
              <a:path w="3386667" h="3873566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67" y="0"/>
                </a:lnTo>
                <a:arcTo hR="101600" wR="101600" stAng="16200000" swAng="5400000"/>
                <a:lnTo>
                  <a:pt x="3386667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F4F1EA"/>
          </a:solidFill>
          <a:ln/>
        </p:spPr>
      </p:sp>
      <p:sp>
        <p:nvSpPr>
          <p:cNvPr id="6" name="Text 4"/>
          <p:cNvSpPr/>
          <p:nvPr/>
        </p:nvSpPr>
        <p:spPr>
          <a:xfrm>
            <a:off x="1092200" y="2298635"/>
            <a:ext cx="291270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9D1E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 · Alerta automática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2200" y="2656749"/>
            <a:ext cx="291270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1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Mínima cuantía por encima de 100 SMMLV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2200" y="3393349"/>
            <a:ext cx="2912703" cy="1021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1E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911 contratos que superan el tope legal. Tienen 15 % de adiciones, frente a 6 % en el resto. Primero hay que verificar su registro.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667" y="1968435"/>
            <a:ext cx="3386667" cy="3873566"/>
          </a:xfrm>
          <a:prstGeom prst="roundRect">
            <a:avLst>
              <a:gd name="adj" fmla="val 3000"/>
            </a:avLst>
          </a:prstGeom>
          <a:solidFill>
            <a:srgbClr val="1E2E52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667" y="1968435"/>
            <a:ext cx="3386667" cy="3873566"/>
          </a:xfrm>
          <a:custGeom>
            <a:avLst/>
            <a:gdLst/>
            <a:ahLst/>
            <a:cxnLst/>
            <a:rect l="l" t="t" r="r" b="b"/>
            <a:pathLst>
              <a:path w="3386667" h="3873566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67" y="0"/>
                </a:lnTo>
                <a:arcTo hR="101600" wR="101600" stAng="16200000" swAng="5400000"/>
                <a:lnTo>
                  <a:pt x="3386667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F0A868"/>
          </a:solidFill>
          <a:ln/>
        </p:spPr>
      </p:sp>
      <p:sp>
        <p:nvSpPr>
          <p:cNvPr id="11" name="Text 9"/>
          <p:cNvSpPr/>
          <p:nvPr/>
        </p:nvSpPr>
        <p:spPr>
          <a:xfrm>
            <a:off x="4682067" y="2298635"/>
            <a:ext cx="291270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0A8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 · Seguimiento de plazo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2067" y="2656749"/>
            <a:ext cx="2912703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1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Más de 140 millones, sobre todo por licitación o selección abreviada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82067" y="4002949"/>
            <a:ext cx="2912703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1E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Revisar el cronograma antes del vencimiento. En el sector trabajo, desde unos 10 millones.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92534" y="1968435"/>
            <a:ext cx="3386667" cy="3873566"/>
          </a:xfrm>
          <a:prstGeom prst="roundRect">
            <a:avLst>
              <a:gd name="adj" fmla="val 3000"/>
            </a:avLst>
          </a:prstGeom>
          <a:solidFill>
            <a:srgbClr val="1E2E52"/>
          </a:solidFill>
          <a:ln/>
        </p:spPr>
      </p:sp>
      <p:sp>
        <p:nvSpPr>
          <p:cNvPr id="15" name="Shape 13"/>
          <p:cNvSpPr/>
          <p:nvPr/>
        </p:nvSpPr>
        <p:spPr>
          <a:xfrm>
            <a:off x="7992534" y="1968435"/>
            <a:ext cx="3386667" cy="3873566"/>
          </a:xfrm>
          <a:custGeom>
            <a:avLst/>
            <a:gdLst/>
            <a:ahLst/>
            <a:cxnLst/>
            <a:rect l="l" t="t" r="r" b="b"/>
            <a:pathLst>
              <a:path w="3386667" h="3873566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67" y="0"/>
                </a:lnTo>
                <a:arcTo hR="101600" wR="101600" stAng="16200000" swAng="5400000"/>
                <a:lnTo>
                  <a:pt x="3386667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8FB8E8"/>
          </a:solidFill>
          <a:ln/>
        </p:spPr>
      </p:sp>
      <p:sp>
        <p:nvSpPr>
          <p:cNvPr id="16" name="Text 14"/>
          <p:cNvSpPr/>
          <p:nvPr/>
        </p:nvSpPr>
        <p:spPr>
          <a:xfrm>
            <a:off x="8271934" y="2298635"/>
            <a:ext cx="291270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FB8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 · Seguimiento de pagos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1934" y="2656749"/>
            <a:ext cx="2912703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1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Régimen especial o directa en funcionamiento; salud y transporte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71934" y="4002949"/>
            <a:ext cx="2912703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1E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Verificar al cierre que los pagos estén registrados y el presupuesto ejecutado.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El destino del gasto indica qué revisar: inversión amplía más plazos (+2,6 pp) y funcionamiento cierra más sin pagos (47 % frente a 32 %).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B04A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LIMITACIONES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515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Qué no dice este análisis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20810"/>
            <a:ext cx="5175250" cy="1487884"/>
          </a:xfrm>
          <a:prstGeom prst="roundRect">
            <a:avLst>
              <a:gd name="adj" fmla="val 661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5633" y="2150467"/>
            <a:ext cx="4857411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Asociación, no causa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45633" y="2485696"/>
            <a:ext cx="4857411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Los resultados indican dónde se concentran las desviaciones, no por qué ocurren. La modalidad está ligada por norma al valor.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00775" y="1920810"/>
            <a:ext cx="5175250" cy="1487884"/>
          </a:xfrm>
          <a:prstGeom prst="roundRect">
            <a:avLst>
              <a:gd name="adj" fmla="val 661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0433" y="2150467"/>
            <a:ext cx="4857411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Pago cero no es incumplimiento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30433" y="2485696"/>
            <a:ext cx="4857411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Puede reflejar pagos registrados fuera de SECOP II, sobre todo en régimen especial y hospitales.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75" y="3618244"/>
            <a:ext cx="5175250" cy="1487884"/>
          </a:xfrm>
          <a:prstGeom prst="roundRect">
            <a:avLst>
              <a:gd name="adj" fmla="val 661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5633" y="3847902"/>
            <a:ext cx="4857411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Liquidación sin evaluar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45633" y="4183131"/>
            <a:ext cx="4857411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El campo no distingue una liquidación realizada de la obligación de liquidar. El cierre sin liquidar queda pendiente.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00775" y="3618244"/>
            <a:ext cx="5175250" cy="1487884"/>
          </a:xfrm>
          <a:prstGeom prst="roundRect">
            <a:avLst>
              <a:gd name="adj" fmla="val 661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0433" y="3847902"/>
            <a:ext cx="4857411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Datos administrativos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30433" y="4183131"/>
            <a:ext cx="4857411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 apartaron importes incompatibles, como uno de 2,1 billones en mínima cuantía, y se marcaron 13.047 fechas incoherentes.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024959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 más de 60.000 contratos por prueba casi todo es significativo; las recomendaciones se basan en tamaños de efecto y en su estabilidad por año y entidad.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Criterios de focalización — SECOP II bienes</dc:title>
  <dc:subject>PptxGenJS Presentation</dc:subject>
  <dc:creator>PptxGenJS</dc:creator>
  <cp:lastModifiedBy>PptxGenJS</cp:lastModifiedBy>
  <cp:revision>1</cp:revision>
  <dcterms:created xsi:type="dcterms:W3CDTF">2026-09-28T04:51:30Z</dcterms:created>
  <dcterms:modified xsi:type="dcterms:W3CDTF">2026-09-28T04:51:30Z</dcterms:modified>
</cp:coreProperties>
</file>